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1849" autoAdjust="0"/>
  </p:normalViewPr>
  <p:slideViewPr>
    <p:cSldViewPr snapToGrid="0">
      <p:cViewPr varScale="1">
        <p:scale>
          <a:sx n="68" d="100"/>
          <a:sy n="68" d="100"/>
        </p:scale>
        <p:origin x="616" y="56"/>
      </p:cViewPr>
      <p:guideLst/>
    </p:cSldViewPr>
  </p:slideViewPr>
  <p:notesTextViewPr>
    <p:cViewPr>
      <p:scale>
        <a:sx n="1" d="1"/>
        <a:sy n="1" d="1"/>
      </p:scale>
      <p:origin x="0" y="-16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74013B-6F79-46EA-B6DD-4E3CB28FE9FF}" type="datetimeFigureOut">
              <a:rPr lang="en-NL" smtClean="0"/>
              <a:t>25/02/2026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C36E9D-7905-43A2-A9F6-43521DDA1AED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76779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PLOT 1: Validation MAE Comparison by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N_Estimators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calculating AVERAGES by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n_estimators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What this means: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-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n_estimators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=10: Average of 63 models = 18.951°C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-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n_estimators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=100: Average of 63 models = 18.615°C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-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n_estimators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=500: Average of 63 models = 18.215°C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PLOT 2: Validation R² Comparison by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N_Estimators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calculating AVERAGES by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n_estimators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PLOT 3: Best Validation Performance Comparison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shows the BEST (minimum) MAE for each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n_estimators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PLOT 4: Validation Performance Distribution Comparison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shows ALL individual validation MAE values (no averaging)       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SUMMARY: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- Plots 1 &amp; 2: Use AVERAGES by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n_estimators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- Plot 3: Uses BEST values by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n_estimators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- Plot 4: Uses ALL individual values (no averaging)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- The table output shows individual model values (no averaging)      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C36E9D-7905-43A2-A9F6-43521DDA1AED}" type="slidenum">
              <a:rPr lang="en-NL" smtClean="0"/>
              <a:t>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21837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3712A-D8D6-7318-F7B6-6F958EB9C4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1C4164-8FD3-2292-68C3-251A54129A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21F3D-07CD-C9FE-8858-C9E48A5A4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2A3F7-C6E2-4900-91B6-684FC0951265}" type="datetimeFigureOut">
              <a:rPr lang="en-NL" smtClean="0"/>
              <a:t>25/02/2026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0E13B8-D35A-F8BA-08D0-252C6E3A1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B96F69-A546-41D6-BB6B-9D64C4F38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89E1A-EA48-432C-B83F-6A7A08D9BBE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24080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025FE-D484-E6B6-E3B4-25C75A382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83A46-D6DE-22A0-9F1F-C9486CBDF6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C13C6-381F-6B29-6B1F-6D9F089D4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2A3F7-C6E2-4900-91B6-684FC0951265}" type="datetimeFigureOut">
              <a:rPr lang="en-NL" smtClean="0"/>
              <a:t>25/02/2026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68A0F8-95E2-CC55-F1E1-54D827E32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749CC4-7117-7592-2A70-AB883FE22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89E1A-EA48-432C-B83F-6A7A08D9BBE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04771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F2D34-AF17-3776-E9F8-F3B373130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ADE014-8BEB-DF61-3C12-E29F9F726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FAC080-5774-2CE2-84DC-736F4D114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2A3F7-C6E2-4900-91B6-684FC0951265}" type="datetimeFigureOut">
              <a:rPr lang="en-NL" smtClean="0"/>
              <a:t>25/02/2026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79852E-51BA-1F1E-6C6F-A78522502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B3C2C2-F0F7-85BC-02D5-EE9836781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89E1A-EA48-432C-B83F-6A7A08D9BBE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11447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8DF50-CCE0-A1D7-1731-0FD294A03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31300-509F-606E-8A77-72B05EC82B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95207C-5891-78EE-76FB-FC8AC78EA0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DDD45B-8D4B-517E-31F3-0906B27C1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2A3F7-C6E2-4900-91B6-684FC0951265}" type="datetimeFigureOut">
              <a:rPr lang="en-NL" smtClean="0"/>
              <a:t>25/02/2026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FDFB89-8334-FE2D-92E1-0F2F6C172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D4443F-BE58-9241-F241-5017DFDFF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89E1A-EA48-432C-B83F-6A7A08D9BBE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73952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5F52A-BBDE-9454-834A-189B10FA1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B9C685-4613-C0D2-683F-4F55518DF7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9F5D16-F6EF-596F-A859-967E7E74AF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AC29E8-243F-0186-5D4C-17E312D36C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F15E4B-727D-7461-B404-FFF8F2A716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9024B6-E274-FA7D-181F-613669C4E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2A3F7-C6E2-4900-91B6-684FC0951265}" type="datetimeFigureOut">
              <a:rPr lang="en-NL" smtClean="0"/>
              <a:t>25/02/2026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0EB700-5874-885B-5542-8346907B9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BDC802-AA07-233A-6341-7FBCF2ED7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89E1A-EA48-432C-B83F-6A7A08D9BBE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82865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D4EAA-6AB9-F837-1B8A-186A58EFE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1E2179-7D8F-8550-8BC9-8610D5D7D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2A3F7-C6E2-4900-91B6-684FC0951265}" type="datetimeFigureOut">
              <a:rPr lang="en-NL" smtClean="0"/>
              <a:t>25/02/2026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0BC89D-EA37-16C3-A046-DD4D0160D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0E7511-0784-AEAF-6572-B8D94BC29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89E1A-EA48-432C-B83F-6A7A08D9BBE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78667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D1B34D-EB24-B82B-9735-E6E442B32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2A3F7-C6E2-4900-91B6-684FC0951265}" type="datetimeFigureOut">
              <a:rPr lang="en-NL" smtClean="0"/>
              <a:t>25/02/2026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C04B4B-688E-879D-AF27-C2C6A0509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C74C82-687A-2D65-2F19-4FA62A0E0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89E1A-EA48-432C-B83F-6A7A08D9BBE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20964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7CE4C-6FAA-84D4-60D3-6931B790C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CF238-E4C6-DAC4-1A62-908B9B503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26AC83-BF98-5D75-F99C-1484E9B7FA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D26E2D-059A-45C4-9F27-255CCC67D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2A3F7-C6E2-4900-91B6-684FC0951265}" type="datetimeFigureOut">
              <a:rPr lang="en-NL" smtClean="0"/>
              <a:t>25/02/2026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9D98C4-146F-A79B-2D36-07E8AD191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C947FC-4C77-41AC-88D0-002F228BD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89E1A-EA48-432C-B83F-6A7A08D9BBE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9941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0E159-8BF2-8A62-47E9-4111A85B1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298ED4-6B83-E35B-74AA-3D70BDE55D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2BACE7-30C1-C3E5-21DC-B0B9AF490B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8081A0-4E06-853E-DA6E-C94BA8715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2A3F7-C6E2-4900-91B6-684FC0951265}" type="datetimeFigureOut">
              <a:rPr lang="en-NL" smtClean="0"/>
              <a:t>25/02/2026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D5F7D5-5A6E-F144-948D-A52CDDB23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124746-A79E-7B71-F993-D8CC32851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89E1A-EA48-432C-B83F-6A7A08D9BBE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63313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ED6D1-C7A4-7B45-21B8-74F21EF78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09E56C-4746-8CFF-A29C-B02BAA73FD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83F1A-B571-08BF-2B20-6815DCD49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2A3F7-C6E2-4900-91B6-684FC0951265}" type="datetimeFigureOut">
              <a:rPr lang="en-NL" smtClean="0"/>
              <a:t>25/02/2026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B244D2-E6D0-76A1-280C-ABF806931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101744-EC51-5BE2-ED80-6AE63E042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89E1A-EA48-432C-B83F-6A7A08D9BBE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90334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6A104C-7158-7392-4E01-89E744D762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26AD75-2FD9-D19C-BF0F-5F5C09AE32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9A5D2-43E7-3E76-43A4-D3E075803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2A3F7-C6E2-4900-91B6-684FC0951265}" type="datetimeFigureOut">
              <a:rPr lang="en-NL" smtClean="0"/>
              <a:t>25/02/2026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F951B9-2806-F153-CBB8-41D6A42CC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D44AC4-0F35-1974-67BC-5F48D9339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89E1A-EA48-432C-B83F-6A7A08D9BBE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09633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59E914-0BF0-1A5C-FA6C-8A56D878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431D9C-0622-98CF-6AE2-CCF09DE39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6EA3A5-6AEA-61EA-D80E-1486F12CB1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E2A3F7-C6E2-4900-91B6-684FC0951265}" type="datetimeFigureOut">
              <a:rPr lang="en-NL" smtClean="0"/>
              <a:t>25/02/2026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368A42-312A-963E-7ADB-167B8F4535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DA2EA-31FA-6140-C8A8-9DA0638C77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A89E1A-EA48-432C-B83F-6A7A08D9BBE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38006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907AB-1CAD-3F0B-5BBD-0D46890B67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Discussion on the reviewers comments</a:t>
            </a:r>
            <a:endParaRPr lang="en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C3E172-670B-E8B5-8E27-D720EEBE73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26/02/2026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738016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C0E71D-DACD-7594-54A1-EE906C49A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4087368" cy="1719072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altLang="en-NL" sz="3200" b="1" dirty="0"/>
              <a:t>Out-of-Fold (OOF) Predictions - With Swelling Ratio</a:t>
            </a:r>
            <a:endParaRPr lang="en-US" sz="3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3F1B40F-7DAC-C777-C499-6D032F81EA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936" y="2807208"/>
            <a:ext cx="3429000" cy="341071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lang="en-US" altLang="en-NL" sz="1700" b="1" dirty="0">
              <a:latin typeface="+mn-lt"/>
            </a:endParaRPr>
          </a:p>
          <a:p>
            <a:pPr marR="0" lvl="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NL" sz="1700" b="1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Top 5 Performing Models</a:t>
            </a:r>
          </a:p>
          <a:p>
            <a:pPr marR="0" lvl="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NL" sz="1700" b="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  <a:p>
            <a:pPr marL="285750" marR="0" lvl="0" indent="-28575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NL" sz="17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R² Range: 0.35 - 0.38</a:t>
            </a:r>
          </a:p>
          <a:p>
            <a:pPr marL="285750" marR="0" lvl="0" indent="-28575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NL" sz="17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MSE Range: 436.24 - 458.24</a:t>
            </a:r>
          </a:p>
          <a:p>
            <a:pPr marL="285750" marR="0" lvl="0" indent="-28575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NL" sz="17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MAE Range: 15.42 - 15.51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FAFAA6B-74C2-DF6E-15E0-F913399A9A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8330659"/>
              </p:ext>
            </p:extLst>
          </p:nvPr>
        </p:nvGraphicFramePr>
        <p:xfrm>
          <a:off x="4379976" y="896112"/>
          <a:ext cx="7398368" cy="5317278"/>
        </p:xfrm>
        <a:graphic>
          <a:graphicData uri="http://schemas.openxmlformats.org/drawingml/2006/table">
            <a:tbl>
              <a:tblPr firstRow="1" firstCol="1" bandRow="1"/>
              <a:tblGrid>
                <a:gridCol w="702267">
                  <a:extLst>
                    <a:ext uri="{9D8B030D-6E8A-4147-A177-3AD203B41FA5}">
                      <a16:colId xmlns:a16="http://schemas.microsoft.com/office/drawing/2014/main" val="1517321420"/>
                    </a:ext>
                  </a:extLst>
                </a:gridCol>
                <a:gridCol w="703949">
                  <a:extLst>
                    <a:ext uri="{9D8B030D-6E8A-4147-A177-3AD203B41FA5}">
                      <a16:colId xmlns:a16="http://schemas.microsoft.com/office/drawing/2014/main" val="3913022083"/>
                    </a:ext>
                  </a:extLst>
                </a:gridCol>
                <a:gridCol w="783064">
                  <a:extLst>
                    <a:ext uri="{9D8B030D-6E8A-4147-A177-3AD203B41FA5}">
                      <a16:colId xmlns:a16="http://schemas.microsoft.com/office/drawing/2014/main" val="2216584240"/>
                    </a:ext>
                  </a:extLst>
                </a:gridCol>
                <a:gridCol w="783064">
                  <a:extLst>
                    <a:ext uri="{9D8B030D-6E8A-4147-A177-3AD203B41FA5}">
                      <a16:colId xmlns:a16="http://schemas.microsoft.com/office/drawing/2014/main" val="4293813301"/>
                    </a:ext>
                  </a:extLst>
                </a:gridCol>
                <a:gridCol w="1087738">
                  <a:extLst>
                    <a:ext uri="{9D8B030D-6E8A-4147-A177-3AD203B41FA5}">
                      <a16:colId xmlns:a16="http://schemas.microsoft.com/office/drawing/2014/main" val="164250019"/>
                    </a:ext>
                  </a:extLst>
                </a:gridCol>
                <a:gridCol w="3338286">
                  <a:extLst>
                    <a:ext uri="{9D8B030D-6E8A-4147-A177-3AD203B41FA5}">
                      <a16:colId xmlns:a16="http://schemas.microsoft.com/office/drawing/2014/main" val="83417276"/>
                    </a:ext>
                  </a:extLst>
                </a:gridCol>
              </a:tblGrid>
              <a:tr h="1028482"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 b="1" i="0" u="none" strike="noStrike">
                          <a:solidFill>
                            <a:srgbClr val="2F5496"/>
                          </a:solidFill>
                          <a:effectLst/>
                          <a:latin typeface="Segoe UI" panose="020B0502040204020203" pitchFamily="34" charset="0"/>
                          <a:ea typeface="Segoe UI" panose="020B0502040204020203" pitchFamily="34" charset="0"/>
                        </a:rPr>
                        <a:t>Rank</a:t>
                      </a:r>
                      <a:endParaRPr lang="en-NL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3093" marR="113093" marT="75396" marB="75396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 b="1" i="0" u="none" strike="noStrike">
                          <a:solidFill>
                            <a:srgbClr val="2F5496"/>
                          </a:solidFill>
                          <a:effectLst/>
                          <a:latin typeface="Segoe UI" panose="020B0502040204020203" pitchFamily="34" charset="0"/>
                          <a:ea typeface="Segoe UI" panose="020B0502040204020203" pitchFamily="34" charset="0"/>
                        </a:rPr>
                        <a:t>R²</a:t>
                      </a:r>
                      <a:endParaRPr lang="en-NL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3093" marR="113093" marT="75396" marB="75396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 b="1" i="0" u="none" strike="noStrike">
                          <a:solidFill>
                            <a:srgbClr val="2F5496"/>
                          </a:solidFill>
                          <a:effectLst/>
                          <a:latin typeface="Segoe UI" panose="020B0502040204020203" pitchFamily="34" charset="0"/>
                          <a:ea typeface="Segoe UI" panose="020B0502040204020203" pitchFamily="34" charset="0"/>
                        </a:rPr>
                        <a:t>MSE</a:t>
                      </a:r>
                      <a:endParaRPr lang="en-NL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3093" marR="113093" marT="75396" marB="75396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 b="1" i="0" u="none" strike="noStrike" dirty="0">
                          <a:solidFill>
                            <a:srgbClr val="2F5496"/>
                          </a:solidFill>
                          <a:effectLst/>
                          <a:latin typeface="Segoe UI" panose="020B0502040204020203" pitchFamily="34" charset="0"/>
                          <a:ea typeface="Segoe UI" panose="020B0502040204020203" pitchFamily="34" charset="0"/>
                        </a:rPr>
                        <a:t>MAE</a:t>
                      </a:r>
                      <a:endParaRPr lang="en-NL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3093" marR="113093" marT="75396" marB="75396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 b="1" i="0" u="none" strike="noStrike">
                          <a:solidFill>
                            <a:srgbClr val="2F5496"/>
                          </a:solidFill>
                          <a:effectLst/>
                          <a:latin typeface="Segoe UI" panose="020B0502040204020203" pitchFamily="34" charset="0"/>
                          <a:ea typeface="Segoe UI" panose="020B0502040204020203" pitchFamily="34" charset="0"/>
                        </a:rPr>
                        <a:t>Base Estimators</a:t>
                      </a:r>
                      <a:endParaRPr lang="en-NL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3093" marR="113093" marT="75396" marB="75396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 b="1" i="0" u="none" strike="noStrike">
                          <a:solidFill>
                            <a:srgbClr val="2F5496"/>
                          </a:solidFill>
                          <a:effectLst/>
                          <a:latin typeface="Segoe UI" panose="020B0502040204020203" pitchFamily="34" charset="0"/>
                          <a:ea typeface="Segoe UI" panose="020B0502040204020203" pitchFamily="34" charset="0"/>
                        </a:rPr>
                        <a:t>Key Features</a:t>
                      </a:r>
                      <a:endParaRPr lang="en-NL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3093" marR="113093" marT="75396" marB="75396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2427968"/>
                  </a:ext>
                </a:extLst>
              </a:tr>
              <a:tr h="1028482"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 b="0" i="0" u="none" strike="noStrike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Segoe UI" panose="020B0502040204020203" pitchFamily="34" charset="0"/>
                        </a:rPr>
                        <a:t>1</a:t>
                      </a:r>
                      <a:endParaRPr lang="en-NL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3093" marR="113093" marT="75396" marB="75396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 b="0" i="0" u="none" strike="noStrike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Segoe UI" panose="020B0502040204020203" pitchFamily="34" charset="0"/>
                        </a:rPr>
                        <a:t>0.383</a:t>
                      </a:r>
                      <a:endParaRPr lang="en-NL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3093" marR="113093" marT="75396" marB="75396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 b="0" i="0" u="none" strike="noStrike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Segoe UI" panose="020B0502040204020203" pitchFamily="34" charset="0"/>
                        </a:rPr>
                        <a:t>436.24</a:t>
                      </a:r>
                      <a:endParaRPr lang="en-NL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3093" marR="113093" marT="75396" marB="75396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 b="0" i="0" u="none" strike="noStrike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Segoe UI" panose="020B0502040204020203" pitchFamily="34" charset="0"/>
                        </a:rPr>
                        <a:t>15.423</a:t>
                      </a:r>
                      <a:endParaRPr lang="en-NL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3093" marR="113093" marT="75396" marB="75396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 b="0" i="0" u="none" strike="noStrike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Segoe UI" panose="020B0502040204020203" pitchFamily="34" charset="0"/>
                        </a:rPr>
                        <a:t>50</a:t>
                      </a:r>
                      <a:endParaRPr lang="en-NL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3093" marR="113093" marT="75396" marB="75396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 b="0" i="0" u="none" strike="noStrike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Segoe UI" panose="020B0502040204020203" pitchFamily="34" charset="0"/>
                        </a:rPr>
                        <a:t>Lignin + PTHF + Ratio + Co-polyol + Isocyanate + Tin(II) octoate + </a:t>
                      </a:r>
                      <a:r>
                        <a:rPr lang="en-NL" sz="1400" b="1" i="0" u="none" strike="noStrike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Segoe UI" panose="020B0502040204020203" pitchFamily="34" charset="0"/>
                        </a:rPr>
                        <a:t>Swelling Ratio</a:t>
                      </a:r>
                      <a:endParaRPr lang="en-NL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3093" marR="113093" marT="75396" marB="75396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9036490"/>
                  </a:ext>
                </a:extLst>
              </a:tr>
              <a:tr h="743944"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 b="0" i="0" u="none" strike="noStrike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Segoe UI" panose="020B0502040204020203" pitchFamily="34" charset="0"/>
                        </a:rPr>
                        <a:t>2</a:t>
                      </a:r>
                      <a:endParaRPr lang="en-NL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3093" marR="113093" marT="75396" marB="75396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 b="0" i="0" u="none" strike="noStrike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Segoe UI" panose="020B0502040204020203" pitchFamily="34" charset="0"/>
                        </a:rPr>
                        <a:t>0.361</a:t>
                      </a:r>
                      <a:endParaRPr lang="en-NL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3093" marR="113093" marT="75396" marB="75396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 b="0" i="0" u="none" strike="noStrike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Segoe UI" panose="020B0502040204020203" pitchFamily="34" charset="0"/>
                        </a:rPr>
                        <a:t>452.03</a:t>
                      </a:r>
                      <a:endParaRPr lang="en-NL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3093" marR="113093" marT="75396" marB="75396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 b="0" i="0" u="none" strike="noStrike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Segoe UI" panose="020B0502040204020203" pitchFamily="34" charset="0"/>
                        </a:rPr>
                        <a:t>15.476</a:t>
                      </a:r>
                      <a:endParaRPr lang="en-NL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3093" marR="113093" marT="75396" marB="75396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 b="0" i="0" u="none" strike="noStrike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Segoe UI" panose="020B0502040204020203" pitchFamily="34" charset="0"/>
                        </a:rPr>
                        <a:t>50</a:t>
                      </a:r>
                      <a:endParaRPr lang="en-NL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3093" marR="113093" marT="75396" marB="75396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 b="0" i="0" u="none" strike="noStrike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Segoe UI" panose="020B0502040204020203" pitchFamily="34" charset="0"/>
                        </a:rPr>
                        <a:t>Lignin + PTHF + Ratio + Co-polyol + </a:t>
                      </a:r>
                      <a:r>
                        <a:rPr lang="en-NL" sz="1400" b="1" i="0" u="none" strike="noStrike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Segoe UI" panose="020B0502040204020203" pitchFamily="34" charset="0"/>
                        </a:rPr>
                        <a:t>Swelling Ratio</a:t>
                      </a:r>
                      <a:endParaRPr lang="en-NL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3093" marR="113093" marT="75396" marB="75396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942995"/>
                  </a:ext>
                </a:extLst>
              </a:tr>
              <a:tr h="1028482"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 b="0" i="0" u="none" strike="noStrike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Segoe UI" panose="020B0502040204020203" pitchFamily="34" charset="0"/>
                        </a:rPr>
                        <a:t>3</a:t>
                      </a:r>
                      <a:endParaRPr lang="en-NL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3093" marR="113093" marT="75396" marB="75396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 b="0" i="0" u="none" strike="noStrike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Segoe UI" panose="020B0502040204020203" pitchFamily="34" charset="0"/>
                        </a:rPr>
                        <a:t>0.380</a:t>
                      </a:r>
                      <a:endParaRPr lang="en-NL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3093" marR="113093" marT="75396" marB="75396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 b="0" i="0" u="none" strike="noStrike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Segoe UI" panose="020B0502040204020203" pitchFamily="34" charset="0"/>
                        </a:rPr>
                        <a:t>437.96</a:t>
                      </a:r>
                      <a:endParaRPr lang="en-NL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3093" marR="113093" marT="75396" marB="75396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 b="0" i="0" u="none" strike="noStrike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Segoe UI" panose="020B0502040204020203" pitchFamily="34" charset="0"/>
                        </a:rPr>
                        <a:t>15.478</a:t>
                      </a:r>
                      <a:endParaRPr lang="en-NL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3093" marR="113093" marT="75396" marB="75396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 b="0" i="0" u="none" strike="noStrike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Segoe UI" panose="020B0502040204020203" pitchFamily="34" charset="0"/>
                        </a:rPr>
                        <a:t>50</a:t>
                      </a:r>
                      <a:endParaRPr lang="en-NL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3093" marR="113093" marT="75396" marB="75396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 b="0" i="0" u="none" strike="noStrike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Segoe UI" panose="020B0502040204020203" pitchFamily="34" charset="0"/>
                        </a:rPr>
                        <a:t>Lignin + PTHF + Ratio + Co-polyol + Isocyanate + Isocyanate type + Tin(II) octoate + </a:t>
                      </a:r>
                      <a:r>
                        <a:rPr lang="en-NL" sz="1400" b="1" i="0" u="none" strike="noStrike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Segoe UI" panose="020B0502040204020203" pitchFamily="34" charset="0"/>
                        </a:rPr>
                        <a:t>Swelling Ratio</a:t>
                      </a:r>
                      <a:endParaRPr lang="en-NL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3093" marR="113093" marT="75396" marB="75396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7533139"/>
                  </a:ext>
                </a:extLst>
              </a:tr>
              <a:tr h="743944"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 b="0" i="0" u="none" strike="noStrike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Segoe UI" panose="020B0502040204020203" pitchFamily="34" charset="0"/>
                        </a:rPr>
                        <a:t>4</a:t>
                      </a:r>
                      <a:endParaRPr lang="en-NL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3093" marR="113093" marT="75396" marB="75396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 b="0" i="0" u="none" strike="noStrike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Segoe UI" panose="020B0502040204020203" pitchFamily="34" charset="0"/>
                        </a:rPr>
                        <a:t>0.353</a:t>
                      </a:r>
                      <a:endParaRPr lang="en-NL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3093" marR="113093" marT="75396" marB="75396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 b="0" i="0" u="none" strike="noStrike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Segoe UI" panose="020B0502040204020203" pitchFamily="34" charset="0"/>
                        </a:rPr>
                        <a:t>458.24</a:t>
                      </a:r>
                      <a:endParaRPr lang="en-NL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3093" marR="113093" marT="75396" marB="75396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 b="0" i="0" u="none" strike="noStrike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Segoe UI" panose="020B0502040204020203" pitchFamily="34" charset="0"/>
                        </a:rPr>
                        <a:t>15.498</a:t>
                      </a:r>
                      <a:endParaRPr lang="en-NL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3093" marR="113093" marT="75396" marB="75396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 b="0" i="0" u="none" strike="noStrike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Segoe UI" panose="020B0502040204020203" pitchFamily="34" charset="0"/>
                        </a:rPr>
                        <a:t>1000</a:t>
                      </a:r>
                      <a:endParaRPr lang="en-NL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3093" marR="113093" marT="75396" marB="75396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 b="0" i="0" u="none" strike="noStrike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Segoe UI" panose="020B0502040204020203" pitchFamily="34" charset="0"/>
                        </a:rPr>
                        <a:t>Lignin + PTHF + Ratio + Co-polyol + </a:t>
                      </a:r>
                      <a:r>
                        <a:rPr lang="en-NL" sz="1400" b="1" i="0" u="none" strike="noStrike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Segoe UI" panose="020B0502040204020203" pitchFamily="34" charset="0"/>
                        </a:rPr>
                        <a:t>Swelling Ratio</a:t>
                      </a:r>
                      <a:endParaRPr lang="en-NL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3093" marR="113093" marT="75396" marB="75396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0484089"/>
                  </a:ext>
                </a:extLst>
              </a:tr>
              <a:tr h="743944"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 b="0" i="0" u="none" strike="noStrike" dirty="0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Segoe UI" panose="020B0502040204020203" pitchFamily="34" charset="0"/>
                        </a:rPr>
                        <a:t>5</a:t>
                      </a:r>
                      <a:endParaRPr lang="en-NL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3093" marR="113093" marT="75396" marB="75396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 b="0" i="0" u="none" strike="noStrike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Segoe UI" panose="020B0502040204020203" pitchFamily="34" charset="0"/>
                        </a:rPr>
                        <a:t>0.354</a:t>
                      </a:r>
                      <a:endParaRPr lang="en-NL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3093" marR="113093" marT="75396" marB="75396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 b="0" i="0" u="none" strike="noStrike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Segoe UI" panose="020B0502040204020203" pitchFamily="34" charset="0"/>
                        </a:rPr>
                        <a:t>457.09</a:t>
                      </a:r>
                      <a:endParaRPr lang="en-NL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3093" marR="113093" marT="75396" marB="75396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 b="0" i="0" u="none" strike="noStrike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Segoe UI" panose="020B0502040204020203" pitchFamily="34" charset="0"/>
                        </a:rPr>
                        <a:t>15.508</a:t>
                      </a:r>
                      <a:endParaRPr lang="en-NL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3093" marR="113093" marT="75396" marB="75396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 b="0" i="0" u="none" strike="noStrike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Segoe UI" panose="020B0502040204020203" pitchFamily="34" charset="0"/>
                        </a:rPr>
                        <a:t>700</a:t>
                      </a:r>
                      <a:endParaRPr lang="en-NL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3093" marR="113093" marT="75396" marB="75396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 b="0" i="0" u="none" strike="noStrike" dirty="0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Segoe UI" panose="020B0502040204020203" pitchFamily="34" charset="0"/>
                        </a:rPr>
                        <a:t>Lignin + PTHF + Ratio + Co-polyol + </a:t>
                      </a:r>
                      <a:r>
                        <a:rPr lang="en-NL" sz="1400" b="1" i="0" u="none" strike="noStrike" dirty="0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Segoe UI" panose="020B0502040204020203" pitchFamily="34" charset="0"/>
                        </a:rPr>
                        <a:t>Swelling Ratio</a:t>
                      </a:r>
                      <a:endParaRPr lang="en-NL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3093" marR="113093" marT="75396" marB="75396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09382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0813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599A81-E8B6-2462-517C-697787F93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en-NL" sz="2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Out-of-Fold (OOF) Predictions - Without Swelling Ratio</a:t>
            </a:r>
            <a:endParaRPr lang="en-US" sz="2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C8F4870-43A8-855A-E8A1-DCF6D94DF9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936" y="2807208"/>
            <a:ext cx="3429000" cy="341071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NL" sz="2200" b="1" i="0" u="none" strike="noStrike" cap="none" normalizeH="0" baseline="0">
              <a:ln>
                <a:noFill/>
              </a:ln>
              <a:effectLst/>
              <a:latin typeface="+mn-lt"/>
            </a:endParaRPr>
          </a:p>
          <a:p>
            <a:pPr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NL" sz="2200" b="1">
                <a:latin typeface="+mn-lt"/>
              </a:rPr>
              <a:t>T</a:t>
            </a:r>
            <a:r>
              <a:rPr kumimoji="0" lang="en-US" altLang="en-NL" sz="2200" b="1" i="0" u="none" strike="noStrike" cap="none" normalizeH="0" baseline="0">
                <a:ln>
                  <a:noFill/>
                </a:ln>
                <a:effectLst/>
                <a:latin typeface="+mn-lt"/>
              </a:rPr>
              <a:t>op 5 Performing Models</a:t>
            </a:r>
          </a:p>
          <a:p>
            <a:pPr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NL" sz="2200" b="1" i="0" u="none" strike="noStrike" cap="none" normalizeH="0" baseline="0">
              <a:ln>
                <a:noFill/>
              </a:ln>
              <a:effectLst/>
              <a:latin typeface="+mn-lt"/>
            </a:endParaRP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NL" sz="2200" b="0" i="0" u="none" strike="noStrike" cap="none" normalizeH="0" baseline="0">
                <a:ln>
                  <a:noFill/>
                </a:ln>
                <a:effectLst/>
                <a:latin typeface="+mn-lt"/>
              </a:rPr>
              <a:t>R² Range: 0.33 - 0.35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NL" sz="2200" b="0" i="0" u="none" strike="noStrike" cap="none" normalizeH="0" baseline="0">
                <a:ln>
                  <a:noFill/>
                </a:ln>
                <a:effectLst/>
                <a:latin typeface="+mn-lt"/>
              </a:rPr>
              <a:t>MSE Range: 462.01 - 473.75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NL" sz="2200" b="0" i="0" u="none" strike="noStrike" cap="none" normalizeH="0" baseline="0">
                <a:ln>
                  <a:noFill/>
                </a:ln>
                <a:effectLst/>
                <a:latin typeface="+mn-lt"/>
              </a:rPr>
              <a:t>MAE Range: 15.71 - 15.82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NL" sz="2200" b="0" i="0" u="none" strike="noStrike" cap="none" normalizeH="0" baseline="0">
              <a:ln>
                <a:noFill/>
              </a:ln>
              <a:effectLst/>
              <a:latin typeface="+mn-lt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146313B-4475-E662-FBF1-629C6EA91C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0807296"/>
              </p:ext>
            </p:extLst>
          </p:nvPr>
        </p:nvGraphicFramePr>
        <p:xfrm>
          <a:off x="4654296" y="882631"/>
          <a:ext cx="6903723" cy="521726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08782">
                  <a:extLst>
                    <a:ext uri="{9D8B030D-6E8A-4147-A177-3AD203B41FA5}">
                      <a16:colId xmlns:a16="http://schemas.microsoft.com/office/drawing/2014/main" val="2161159337"/>
                    </a:ext>
                  </a:extLst>
                </a:gridCol>
                <a:gridCol w="835922">
                  <a:extLst>
                    <a:ext uri="{9D8B030D-6E8A-4147-A177-3AD203B41FA5}">
                      <a16:colId xmlns:a16="http://schemas.microsoft.com/office/drawing/2014/main" val="4244159806"/>
                    </a:ext>
                  </a:extLst>
                </a:gridCol>
                <a:gridCol w="930914">
                  <a:extLst>
                    <a:ext uri="{9D8B030D-6E8A-4147-A177-3AD203B41FA5}">
                      <a16:colId xmlns:a16="http://schemas.microsoft.com/office/drawing/2014/main" val="3791428603"/>
                    </a:ext>
                  </a:extLst>
                </a:gridCol>
                <a:gridCol w="930914">
                  <a:extLst>
                    <a:ext uri="{9D8B030D-6E8A-4147-A177-3AD203B41FA5}">
                      <a16:colId xmlns:a16="http://schemas.microsoft.com/office/drawing/2014/main" val="4018294362"/>
                    </a:ext>
                  </a:extLst>
                </a:gridCol>
                <a:gridCol w="1650131">
                  <a:extLst>
                    <a:ext uri="{9D8B030D-6E8A-4147-A177-3AD203B41FA5}">
                      <a16:colId xmlns:a16="http://schemas.microsoft.com/office/drawing/2014/main" val="2680665135"/>
                    </a:ext>
                  </a:extLst>
                </a:gridCol>
                <a:gridCol w="1747060">
                  <a:extLst>
                    <a:ext uri="{9D8B030D-6E8A-4147-A177-3AD203B41FA5}">
                      <a16:colId xmlns:a16="http://schemas.microsoft.com/office/drawing/2014/main" val="2875117910"/>
                    </a:ext>
                  </a:extLst>
                </a:gridCol>
              </a:tblGrid>
              <a:tr h="43108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 dirty="0">
                          <a:effectLst/>
                        </a:rPr>
                        <a:t>Rank</a:t>
                      </a:r>
                      <a:endParaRPr lang="en-NL" sz="1400" dirty="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39579" marR="139579" marT="93052" marB="93052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>
                          <a:effectLst/>
                        </a:rPr>
                        <a:t>R²</a:t>
                      </a:r>
                      <a:endParaRPr lang="en-NL" sz="140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39579" marR="139579" marT="93052" marB="93052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>
                          <a:effectLst/>
                        </a:rPr>
                        <a:t>MSE</a:t>
                      </a:r>
                      <a:endParaRPr lang="en-NL" sz="140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39579" marR="139579" marT="93052" marB="93052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>
                          <a:effectLst/>
                        </a:rPr>
                        <a:t>MAE</a:t>
                      </a:r>
                      <a:endParaRPr lang="en-NL" sz="140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39579" marR="139579" marT="93052" marB="93052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>
                          <a:effectLst/>
                        </a:rPr>
                        <a:t>Base Estimators</a:t>
                      </a:r>
                      <a:endParaRPr lang="en-NL" sz="140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39579" marR="139579" marT="93052" marB="93052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>
                          <a:effectLst/>
                        </a:rPr>
                        <a:t>Key Features</a:t>
                      </a:r>
                      <a:endParaRPr lang="en-NL" sz="140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39579" marR="139579" marT="93052" marB="93052"/>
                </a:tc>
                <a:extLst>
                  <a:ext uri="{0D108BD9-81ED-4DB2-BD59-A6C34878D82A}">
                    <a16:rowId xmlns:a16="http://schemas.microsoft.com/office/drawing/2014/main" val="2831973596"/>
                  </a:ext>
                </a:extLst>
              </a:tr>
              <a:tr h="8867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>
                          <a:effectLst/>
                        </a:rPr>
                        <a:t>1</a:t>
                      </a:r>
                      <a:endParaRPr lang="en-NL" sz="140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39579" marR="139579" marT="93052" marB="93052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>
                          <a:effectLst/>
                        </a:rPr>
                        <a:t>0.337</a:t>
                      </a:r>
                      <a:endParaRPr lang="en-NL" sz="140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39579" marR="139579" marT="93052" marB="93052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>
                          <a:effectLst/>
                        </a:rPr>
                        <a:t>468.17</a:t>
                      </a:r>
                      <a:endParaRPr lang="en-NL" sz="140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39579" marR="139579" marT="93052" marB="93052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>
                          <a:effectLst/>
                        </a:rPr>
                        <a:t>15.714</a:t>
                      </a:r>
                      <a:endParaRPr lang="en-NL" sz="140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39579" marR="139579" marT="93052" marB="93052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>
                          <a:effectLst/>
                        </a:rPr>
                        <a:t>700</a:t>
                      </a:r>
                      <a:endParaRPr lang="en-NL" sz="140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39579" marR="139579" marT="93052" marB="93052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 dirty="0">
                          <a:effectLst/>
                        </a:rPr>
                        <a:t>Lignin + PTHF + Ratio + </a:t>
                      </a:r>
                      <a:r>
                        <a:rPr lang="en-NL" sz="1400" b="0" dirty="0">
                          <a:effectLst/>
                        </a:rPr>
                        <a:t>Co-polyol</a:t>
                      </a:r>
                      <a:r>
                        <a:rPr lang="en-NL" sz="1400" dirty="0">
                          <a:effectLst/>
                        </a:rPr>
                        <a:t> + Isocyanate type</a:t>
                      </a:r>
                      <a:endParaRPr lang="en-NL" sz="1400" dirty="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39579" marR="139579" marT="93052" marB="93052"/>
                </a:tc>
                <a:extLst>
                  <a:ext uri="{0D108BD9-81ED-4DB2-BD59-A6C34878D82A}">
                    <a16:rowId xmlns:a16="http://schemas.microsoft.com/office/drawing/2014/main" val="2413869114"/>
                  </a:ext>
                </a:extLst>
              </a:tr>
              <a:tr h="8867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>
                          <a:effectLst/>
                        </a:rPr>
                        <a:t>2</a:t>
                      </a:r>
                      <a:endParaRPr lang="en-NL" sz="140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39579" marR="139579" marT="93052" marB="93052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>
                          <a:effectLst/>
                        </a:rPr>
                        <a:t>0.328</a:t>
                      </a:r>
                      <a:endParaRPr lang="en-NL" sz="140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39579" marR="139579" marT="93052" marB="93052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>
                          <a:effectLst/>
                        </a:rPr>
                        <a:t>473.75</a:t>
                      </a:r>
                      <a:endParaRPr lang="en-NL" sz="140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39579" marR="139579" marT="93052" marB="93052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>
                          <a:effectLst/>
                        </a:rPr>
                        <a:t>15.772</a:t>
                      </a:r>
                      <a:endParaRPr lang="en-NL" sz="140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39579" marR="139579" marT="93052" marB="93052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>
                          <a:effectLst/>
                        </a:rPr>
                        <a:t>1000</a:t>
                      </a:r>
                      <a:endParaRPr lang="en-NL" sz="140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39579" marR="139579" marT="93052" marB="93052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>
                          <a:effectLst/>
                        </a:rPr>
                        <a:t>Lignin + PTHF + Ratio + Co-polyol + Isocyanate type</a:t>
                      </a:r>
                      <a:endParaRPr lang="en-NL" sz="140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39579" marR="139579" marT="93052" marB="93052"/>
                </a:tc>
                <a:extLst>
                  <a:ext uri="{0D108BD9-81ED-4DB2-BD59-A6C34878D82A}">
                    <a16:rowId xmlns:a16="http://schemas.microsoft.com/office/drawing/2014/main" val="3746179780"/>
                  </a:ext>
                </a:extLst>
              </a:tr>
              <a:tr h="8867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>
                          <a:effectLst/>
                        </a:rPr>
                        <a:t>3</a:t>
                      </a:r>
                      <a:endParaRPr lang="en-NL" sz="140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39579" marR="139579" marT="93052" marB="93052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>
                          <a:effectLst/>
                        </a:rPr>
                        <a:t>0.328</a:t>
                      </a:r>
                      <a:endParaRPr lang="en-NL" sz="140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39579" marR="139579" marT="93052" marB="93052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>
                          <a:effectLst/>
                        </a:rPr>
                        <a:t>473.62</a:t>
                      </a:r>
                      <a:endParaRPr lang="en-NL" sz="140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39579" marR="139579" marT="93052" marB="93052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>
                          <a:effectLst/>
                        </a:rPr>
                        <a:t>15.783</a:t>
                      </a:r>
                      <a:endParaRPr lang="en-NL" sz="140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39579" marR="139579" marT="93052" marB="93052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>
                          <a:effectLst/>
                        </a:rPr>
                        <a:t>900</a:t>
                      </a:r>
                      <a:endParaRPr lang="en-NL" sz="140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39579" marR="139579" marT="93052" marB="93052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 dirty="0">
                          <a:effectLst/>
                        </a:rPr>
                        <a:t>Lignin + PTHF + Ratio + Co-polyol + Isocyanate type</a:t>
                      </a:r>
                      <a:endParaRPr lang="en-NL" sz="1400" dirty="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39579" marR="139579" marT="93052" marB="93052"/>
                </a:tc>
                <a:extLst>
                  <a:ext uri="{0D108BD9-81ED-4DB2-BD59-A6C34878D82A}">
                    <a16:rowId xmlns:a16="http://schemas.microsoft.com/office/drawing/2014/main" val="2899954009"/>
                  </a:ext>
                </a:extLst>
              </a:tr>
              <a:tr h="8867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>
                          <a:effectLst/>
                        </a:rPr>
                        <a:t>4</a:t>
                      </a:r>
                      <a:endParaRPr lang="en-NL" sz="140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39579" marR="139579" marT="93052" marB="93052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>
                          <a:effectLst/>
                        </a:rPr>
                        <a:t>0.328</a:t>
                      </a:r>
                      <a:endParaRPr lang="en-NL" sz="140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39579" marR="139579" marT="93052" marB="93052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>
                          <a:effectLst/>
                        </a:rPr>
                        <a:t>473.73</a:t>
                      </a:r>
                      <a:endParaRPr lang="en-NL" sz="140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39579" marR="139579" marT="93052" marB="93052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>
                          <a:effectLst/>
                        </a:rPr>
                        <a:t>15.799</a:t>
                      </a:r>
                      <a:endParaRPr lang="en-NL" sz="140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39579" marR="139579" marT="93052" marB="93052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>
                          <a:effectLst/>
                        </a:rPr>
                        <a:t>800</a:t>
                      </a:r>
                      <a:endParaRPr lang="en-NL" sz="140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39579" marR="139579" marT="93052" marB="93052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 dirty="0">
                          <a:effectLst/>
                        </a:rPr>
                        <a:t>Lignin + PTHF + Ratio + Co-polyol + Isocyanate type</a:t>
                      </a:r>
                      <a:endParaRPr lang="en-NL" sz="1400" dirty="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39579" marR="139579" marT="93052" marB="93052"/>
                </a:tc>
                <a:extLst>
                  <a:ext uri="{0D108BD9-81ED-4DB2-BD59-A6C34878D82A}">
                    <a16:rowId xmlns:a16="http://schemas.microsoft.com/office/drawing/2014/main" val="3246998684"/>
                  </a:ext>
                </a:extLst>
              </a:tr>
              <a:tr h="111460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>
                          <a:effectLst/>
                        </a:rPr>
                        <a:t>5</a:t>
                      </a:r>
                      <a:endParaRPr lang="en-NL" sz="140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39579" marR="139579" marT="93052" marB="93052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>
                          <a:effectLst/>
                        </a:rPr>
                        <a:t>0.346</a:t>
                      </a:r>
                      <a:endParaRPr lang="en-NL" sz="140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39579" marR="139579" marT="93052" marB="93052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>
                          <a:effectLst/>
                        </a:rPr>
                        <a:t>462.01</a:t>
                      </a:r>
                      <a:endParaRPr lang="en-NL" sz="140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39579" marR="139579" marT="93052" marB="93052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>
                          <a:effectLst/>
                        </a:rPr>
                        <a:t>15.818</a:t>
                      </a:r>
                      <a:endParaRPr lang="en-NL" sz="140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39579" marR="139579" marT="93052" marB="93052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>
                          <a:effectLst/>
                        </a:rPr>
                        <a:t>1000</a:t>
                      </a:r>
                      <a:endParaRPr lang="en-NL" sz="140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39579" marR="139579" marT="93052" marB="93052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 dirty="0">
                          <a:effectLst/>
                        </a:rPr>
                        <a:t>Lignin + PTHF + Ratio + Co-polyol + Isocyanate + </a:t>
                      </a:r>
                      <a:r>
                        <a:rPr lang="en-NL" sz="1400" b="1" dirty="0">
                          <a:effectLst/>
                        </a:rPr>
                        <a:t>Tin(II) </a:t>
                      </a:r>
                      <a:r>
                        <a:rPr lang="en-NL" sz="1400" dirty="0">
                          <a:effectLst/>
                        </a:rPr>
                        <a:t>octoate</a:t>
                      </a:r>
                      <a:endParaRPr lang="en-NL" sz="1400" dirty="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39579" marR="139579" marT="93052" marB="93052"/>
                </a:tc>
                <a:extLst>
                  <a:ext uri="{0D108BD9-81ED-4DB2-BD59-A6C34878D82A}">
                    <a16:rowId xmlns:a16="http://schemas.microsoft.com/office/drawing/2014/main" val="35163804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040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5067BB-33AA-AAFB-69ED-23D52EF80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altLang="en-NL" sz="4000" b="1" dirty="0"/>
              <a:t>Stratified Train/Test/Validation Split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7AC728A-C9E9-31C2-B6ED-89B12249D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936" y="2807208"/>
            <a:ext cx="3429000" cy="341071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NL" sz="1700" b="1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 Top 5 Models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NL" sz="17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Best Test R²: 0.67 (Rank 5)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NL" sz="17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Best Test MSE: 245.82 (Rank 5)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NL" sz="17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Most Efficient: Rank 1 (R²=0.55 with only 10 estimators)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71042A4-C7E7-67E3-AE56-027C18CF3A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1491215"/>
              </p:ext>
            </p:extLst>
          </p:nvPr>
        </p:nvGraphicFramePr>
        <p:xfrm>
          <a:off x="4206240" y="1682437"/>
          <a:ext cx="7571230" cy="4657182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676853">
                  <a:extLst>
                    <a:ext uri="{9D8B030D-6E8A-4147-A177-3AD203B41FA5}">
                      <a16:colId xmlns:a16="http://schemas.microsoft.com/office/drawing/2014/main" val="341133381"/>
                    </a:ext>
                  </a:extLst>
                </a:gridCol>
                <a:gridCol w="718352">
                  <a:extLst>
                    <a:ext uri="{9D8B030D-6E8A-4147-A177-3AD203B41FA5}">
                      <a16:colId xmlns:a16="http://schemas.microsoft.com/office/drawing/2014/main" val="3422484192"/>
                    </a:ext>
                  </a:extLst>
                </a:gridCol>
                <a:gridCol w="646179">
                  <a:extLst>
                    <a:ext uri="{9D8B030D-6E8A-4147-A177-3AD203B41FA5}">
                      <a16:colId xmlns:a16="http://schemas.microsoft.com/office/drawing/2014/main" val="385596121"/>
                    </a:ext>
                  </a:extLst>
                </a:gridCol>
                <a:gridCol w="777895">
                  <a:extLst>
                    <a:ext uri="{9D8B030D-6E8A-4147-A177-3AD203B41FA5}">
                      <a16:colId xmlns:a16="http://schemas.microsoft.com/office/drawing/2014/main" val="2929077340"/>
                    </a:ext>
                  </a:extLst>
                </a:gridCol>
                <a:gridCol w="777895">
                  <a:extLst>
                    <a:ext uri="{9D8B030D-6E8A-4147-A177-3AD203B41FA5}">
                      <a16:colId xmlns:a16="http://schemas.microsoft.com/office/drawing/2014/main" val="195686596"/>
                    </a:ext>
                  </a:extLst>
                </a:gridCol>
                <a:gridCol w="718352">
                  <a:extLst>
                    <a:ext uri="{9D8B030D-6E8A-4147-A177-3AD203B41FA5}">
                      <a16:colId xmlns:a16="http://schemas.microsoft.com/office/drawing/2014/main" val="2979512499"/>
                    </a:ext>
                  </a:extLst>
                </a:gridCol>
                <a:gridCol w="698505">
                  <a:extLst>
                    <a:ext uri="{9D8B030D-6E8A-4147-A177-3AD203B41FA5}">
                      <a16:colId xmlns:a16="http://schemas.microsoft.com/office/drawing/2014/main" val="676744537"/>
                    </a:ext>
                  </a:extLst>
                </a:gridCol>
                <a:gridCol w="667831">
                  <a:extLst>
                    <a:ext uri="{9D8B030D-6E8A-4147-A177-3AD203B41FA5}">
                      <a16:colId xmlns:a16="http://schemas.microsoft.com/office/drawing/2014/main" val="4199135024"/>
                    </a:ext>
                  </a:extLst>
                </a:gridCol>
                <a:gridCol w="1889368">
                  <a:extLst>
                    <a:ext uri="{9D8B030D-6E8A-4147-A177-3AD203B41FA5}">
                      <a16:colId xmlns:a16="http://schemas.microsoft.com/office/drawing/2014/main" val="1753692883"/>
                    </a:ext>
                  </a:extLst>
                </a:gridCol>
              </a:tblGrid>
              <a:tr h="59697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 dirty="0">
                          <a:effectLst/>
                        </a:rPr>
                        <a:t>Rank</a:t>
                      </a:r>
                      <a:endParaRPr lang="en-NL" sz="1400" dirty="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01944" marR="101944" marT="67963" marB="67963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 dirty="0">
                          <a:effectLst/>
                        </a:rPr>
                        <a:t>R² (Test)</a:t>
                      </a:r>
                      <a:endParaRPr lang="en-NL" sz="1400" dirty="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01944" marR="101944" marT="67963" marB="67963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>
                          <a:effectLst/>
                        </a:rPr>
                        <a:t>R² (Val)</a:t>
                      </a:r>
                      <a:endParaRPr lang="en-NL" sz="140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01944" marR="101944" marT="67963" marB="67963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>
                          <a:effectLst/>
                        </a:rPr>
                        <a:t>MSE (Test)</a:t>
                      </a:r>
                      <a:endParaRPr lang="en-NL" sz="140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01944" marR="101944" marT="67963" marB="67963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>
                          <a:effectLst/>
                        </a:rPr>
                        <a:t>MSE (Val)</a:t>
                      </a:r>
                      <a:endParaRPr lang="en-NL" sz="140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01944" marR="101944" marT="67963" marB="67963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>
                          <a:effectLst/>
                        </a:rPr>
                        <a:t>MAE (Test)</a:t>
                      </a:r>
                      <a:endParaRPr lang="en-NL" sz="140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01944" marR="101944" marT="67963" marB="67963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>
                          <a:effectLst/>
                        </a:rPr>
                        <a:t>MAE (Val)</a:t>
                      </a:r>
                      <a:endParaRPr lang="en-NL" sz="140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01944" marR="101944" marT="67963" marB="67963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>
                          <a:effectLst/>
                        </a:rPr>
                        <a:t>Base Est.</a:t>
                      </a:r>
                      <a:endParaRPr lang="en-NL" sz="140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01944" marR="101944" marT="67963" marB="67963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 dirty="0">
                          <a:effectLst/>
                        </a:rPr>
                        <a:t>Key Features</a:t>
                      </a:r>
                      <a:endParaRPr lang="en-NL" sz="1400" dirty="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01944" marR="101944" marT="67963" marB="67963"/>
                </a:tc>
                <a:extLst>
                  <a:ext uri="{0D108BD9-81ED-4DB2-BD59-A6C34878D82A}">
                    <a16:rowId xmlns:a16="http://schemas.microsoft.com/office/drawing/2014/main" val="3919140886"/>
                  </a:ext>
                </a:extLst>
              </a:tr>
              <a:tr h="83607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>
                          <a:effectLst/>
                        </a:rPr>
                        <a:t>1</a:t>
                      </a:r>
                      <a:endParaRPr lang="en-NL" sz="140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01944" marR="101944" marT="67963" marB="67963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>
                          <a:effectLst/>
                        </a:rPr>
                        <a:t>0.55</a:t>
                      </a:r>
                      <a:endParaRPr lang="en-NL" sz="140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01944" marR="101944" marT="67963" marB="67963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>
                          <a:effectLst/>
                        </a:rPr>
                        <a:t>0.49</a:t>
                      </a:r>
                      <a:endParaRPr lang="en-NL" sz="140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01944" marR="101944" marT="67963" marB="67963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>
                          <a:effectLst/>
                        </a:rPr>
                        <a:t>338.37</a:t>
                      </a:r>
                      <a:endParaRPr lang="en-NL" sz="140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01944" marR="101944" marT="67963" marB="67963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>
                          <a:effectLst/>
                        </a:rPr>
                        <a:t>391.95</a:t>
                      </a:r>
                      <a:endParaRPr lang="en-NL" sz="140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01944" marR="101944" marT="67963" marB="67963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>
                          <a:effectLst/>
                        </a:rPr>
                        <a:t>15.17</a:t>
                      </a:r>
                      <a:endParaRPr lang="en-NL" sz="140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01944" marR="101944" marT="67963" marB="67963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>
                          <a:effectLst/>
                        </a:rPr>
                        <a:t>13.41</a:t>
                      </a:r>
                      <a:endParaRPr lang="en-NL" sz="140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01944" marR="101944" marT="67963" marB="67963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>
                          <a:effectLst/>
                        </a:rPr>
                        <a:t>10</a:t>
                      </a:r>
                      <a:endParaRPr lang="en-NL" sz="140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01944" marR="101944" marT="67963" marB="67963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 dirty="0">
                          <a:effectLst/>
                        </a:rPr>
                        <a:t>Lignin + PTHF + Ratio + </a:t>
                      </a:r>
                      <a:r>
                        <a:rPr lang="en-NL" sz="1400" b="1" dirty="0">
                          <a:effectLst/>
                        </a:rPr>
                        <a:t>Co-polyol</a:t>
                      </a:r>
                      <a:r>
                        <a:rPr lang="en-NL" sz="1400" dirty="0">
                          <a:effectLst/>
                        </a:rPr>
                        <a:t> + Isocyanate</a:t>
                      </a:r>
                      <a:endParaRPr lang="en-NL" sz="1400" dirty="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01944" marR="101944" marT="67963" marB="67963"/>
                </a:tc>
                <a:extLst>
                  <a:ext uri="{0D108BD9-81ED-4DB2-BD59-A6C34878D82A}">
                    <a16:rowId xmlns:a16="http://schemas.microsoft.com/office/drawing/2014/main" val="1737540209"/>
                  </a:ext>
                </a:extLst>
              </a:tr>
              <a:tr h="59697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>
                          <a:effectLst/>
                        </a:rPr>
                        <a:t>2</a:t>
                      </a:r>
                      <a:endParaRPr lang="en-NL" sz="140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01944" marR="101944" marT="67963" marB="67963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>
                          <a:effectLst/>
                        </a:rPr>
                        <a:t>0.20</a:t>
                      </a:r>
                      <a:endParaRPr lang="en-NL" sz="140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01944" marR="101944" marT="67963" marB="67963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>
                          <a:effectLst/>
                        </a:rPr>
                        <a:t>0.46</a:t>
                      </a:r>
                      <a:endParaRPr lang="en-NL" sz="140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01944" marR="101944" marT="67963" marB="67963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>
                          <a:effectLst/>
                        </a:rPr>
                        <a:t>595.12</a:t>
                      </a:r>
                      <a:endParaRPr lang="en-NL" sz="140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01944" marR="101944" marT="67963" marB="67963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>
                          <a:effectLst/>
                        </a:rPr>
                        <a:t>417.46</a:t>
                      </a:r>
                      <a:endParaRPr lang="en-NL" sz="140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01944" marR="101944" marT="67963" marB="67963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>
                          <a:effectLst/>
                        </a:rPr>
                        <a:t>17.77</a:t>
                      </a:r>
                      <a:endParaRPr lang="en-NL" sz="140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01944" marR="101944" marT="67963" marB="67963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>
                          <a:effectLst/>
                        </a:rPr>
                        <a:t>13.54</a:t>
                      </a:r>
                      <a:endParaRPr lang="en-NL" sz="140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01944" marR="101944" marT="67963" marB="67963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>
                          <a:effectLst/>
                        </a:rPr>
                        <a:t>10</a:t>
                      </a:r>
                      <a:endParaRPr lang="en-NL" sz="140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01944" marR="101944" marT="67963" marB="67963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>
                          <a:effectLst/>
                        </a:rPr>
                        <a:t>Lignin + PTHF + Ratio + Isocyanate</a:t>
                      </a:r>
                      <a:endParaRPr lang="en-NL" sz="140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01944" marR="101944" marT="67963" marB="67963"/>
                </a:tc>
                <a:extLst>
                  <a:ext uri="{0D108BD9-81ED-4DB2-BD59-A6C34878D82A}">
                    <a16:rowId xmlns:a16="http://schemas.microsoft.com/office/drawing/2014/main" val="527549569"/>
                  </a:ext>
                </a:extLst>
              </a:tr>
              <a:tr h="83607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>
                          <a:effectLst/>
                        </a:rPr>
                        <a:t>3</a:t>
                      </a:r>
                      <a:endParaRPr lang="en-NL" sz="140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01944" marR="101944" marT="67963" marB="67963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>
                          <a:effectLst/>
                        </a:rPr>
                        <a:t>0.61</a:t>
                      </a:r>
                      <a:endParaRPr lang="en-NL" sz="140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01944" marR="101944" marT="67963" marB="67963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>
                          <a:effectLst/>
                        </a:rPr>
                        <a:t>0.49</a:t>
                      </a:r>
                      <a:endParaRPr lang="en-NL" sz="140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01944" marR="101944" marT="67963" marB="67963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>
                          <a:effectLst/>
                        </a:rPr>
                        <a:t>292.55</a:t>
                      </a:r>
                      <a:endParaRPr lang="en-NL" sz="140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01944" marR="101944" marT="67963" marB="67963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>
                          <a:effectLst/>
                        </a:rPr>
                        <a:t>392.19</a:t>
                      </a:r>
                      <a:endParaRPr lang="en-NL" sz="140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01944" marR="101944" marT="67963" marB="67963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>
                          <a:effectLst/>
                        </a:rPr>
                        <a:t>14.26</a:t>
                      </a:r>
                      <a:endParaRPr lang="en-NL" sz="140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01944" marR="101944" marT="67963" marB="67963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>
                          <a:effectLst/>
                        </a:rPr>
                        <a:t>13.55</a:t>
                      </a:r>
                      <a:endParaRPr lang="en-NL" sz="140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01944" marR="101944" marT="67963" marB="67963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>
                          <a:effectLst/>
                        </a:rPr>
                        <a:t>100</a:t>
                      </a:r>
                      <a:endParaRPr lang="en-NL" sz="140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01944" marR="101944" marT="67963" marB="67963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 dirty="0">
                          <a:effectLst/>
                        </a:rPr>
                        <a:t>Lignin + PTHF + Ratio + </a:t>
                      </a:r>
                      <a:r>
                        <a:rPr lang="en-NL" sz="1400" b="1" dirty="0">
                          <a:effectLst/>
                        </a:rPr>
                        <a:t>Co-polyol</a:t>
                      </a:r>
                      <a:r>
                        <a:rPr lang="en-NL" sz="1400" dirty="0">
                          <a:effectLst/>
                        </a:rPr>
                        <a:t> + Isocyanate</a:t>
                      </a:r>
                      <a:endParaRPr lang="en-NL" sz="1400" dirty="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01944" marR="101944" marT="67963" marB="67963"/>
                </a:tc>
                <a:extLst>
                  <a:ext uri="{0D108BD9-81ED-4DB2-BD59-A6C34878D82A}">
                    <a16:rowId xmlns:a16="http://schemas.microsoft.com/office/drawing/2014/main" val="3465514214"/>
                  </a:ext>
                </a:extLst>
              </a:tr>
              <a:tr h="83607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>
                          <a:effectLst/>
                        </a:rPr>
                        <a:t>4</a:t>
                      </a:r>
                      <a:endParaRPr lang="en-NL" sz="140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01944" marR="101944" marT="67963" marB="67963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>
                          <a:effectLst/>
                        </a:rPr>
                        <a:t>0.63</a:t>
                      </a:r>
                      <a:endParaRPr lang="en-NL" sz="140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01944" marR="101944" marT="67963" marB="67963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>
                          <a:effectLst/>
                        </a:rPr>
                        <a:t>0.43</a:t>
                      </a:r>
                      <a:endParaRPr lang="en-NL" sz="140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01944" marR="101944" marT="67963" marB="67963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>
                          <a:effectLst/>
                        </a:rPr>
                        <a:t>273.85</a:t>
                      </a:r>
                      <a:endParaRPr lang="en-NL" sz="140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01944" marR="101944" marT="67963" marB="67963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>
                          <a:effectLst/>
                        </a:rPr>
                        <a:t>439.07</a:t>
                      </a:r>
                      <a:endParaRPr lang="en-NL" sz="140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01944" marR="101944" marT="67963" marB="67963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>
                          <a:effectLst/>
                        </a:rPr>
                        <a:t>10.99</a:t>
                      </a:r>
                      <a:endParaRPr lang="en-NL" sz="140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01944" marR="101944" marT="67963" marB="67963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>
                          <a:effectLst/>
                        </a:rPr>
                        <a:t>14.06</a:t>
                      </a:r>
                      <a:endParaRPr lang="en-NL" sz="140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01944" marR="101944" marT="67963" marB="67963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>
                          <a:effectLst/>
                        </a:rPr>
                        <a:t>100</a:t>
                      </a:r>
                      <a:endParaRPr lang="en-NL" sz="140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01944" marR="101944" marT="67963" marB="67963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 dirty="0">
                          <a:effectLst/>
                        </a:rPr>
                        <a:t>Lignin + PTHF + Ratio + </a:t>
                      </a:r>
                      <a:r>
                        <a:rPr lang="en-NL" sz="1400" b="1" dirty="0">
                          <a:effectLst/>
                        </a:rPr>
                        <a:t>Co-polyol</a:t>
                      </a:r>
                      <a:r>
                        <a:rPr lang="en-NL" sz="1400" dirty="0">
                          <a:effectLst/>
                        </a:rPr>
                        <a:t> + Isocyanate type</a:t>
                      </a:r>
                      <a:endParaRPr lang="en-NL" sz="1400" dirty="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01944" marR="101944" marT="67963" marB="67963"/>
                </a:tc>
                <a:extLst>
                  <a:ext uri="{0D108BD9-81ED-4DB2-BD59-A6C34878D82A}">
                    <a16:rowId xmlns:a16="http://schemas.microsoft.com/office/drawing/2014/main" val="212930598"/>
                  </a:ext>
                </a:extLst>
              </a:tr>
              <a:tr h="83607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>
                          <a:effectLst/>
                        </a:rPr>
                        <a:t>5</a:t>
                      </a:r>
                      <a:endParaRPr lang="en-NL" sz="140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01944" marR="101944" marT="67963" marB="67963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>
                          <a:effectLst/>
                        </a:rPr>
                        <a:t>0.67</a:t>
                      </a:r>
                      <a:endParaRPr lang="en-NL" sz="140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01944" marR="101944" marT="67963" marB="67963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>
                          <a:effectLst/>
                        </a:rPr>
                        <a:t>0.43</a:t>
                      </a:r>
                      <a:endParaRPr lang="en-NL" sz="140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01944" marR="101944" marT="67963" marB="67963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>
                          <a:effectLst/>
                        </a:rPr>
                        <a:t>245.82</a:t>
                      </a:r>
                      <a:endParaRPr lang="en-NL" sz="140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01944" marR="101944" marT="67963" marB="67963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>
                          <a:effectLst/>
                        </a:rPr>
                        <a:t>439.48</a:t>
                      </a:r>
                      <a:endParaRPr lang="en-NL" sz="140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01944" marR="101944" marT="67963" marB="67963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>
                          <a:effectLst/>
                        </a:rPr>
                        <a:t>10.21</a:t>
                      </a:r>
                      <a:endParaRPr lang="en-NL" sz="140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01944" marR="101944" marT="67963" marB="67963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>
                          <a:effectLst/>
                        </a:rPr>
                        <a:t>14.08</a:t>
                      </a:r>
                      <a:endParaRPr lang="en-NL" sz="140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01944" marR="101944" marT="67963" marB="67963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>
                          <a:effectLst/>
                        </a:rPr>
                        <a:t>500</a:t>
                      </a:r>
                      <a:endParaRPr lang="en-NL" sz="140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01944" marR="101944" marT="67963" marB="67963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NL" sz="1400" dirty="0">
                          <a:effectLst/>
                        </a:rPr>
                        <a:t>Lignin + PTHF + Ratio + </a:t>
                      </a:r>
                      <a:r>
                        <a:rPr lang="en-NL" sz="1400" b="1" dirty="0">
                          <a:effectLst/>
                        </a:rPr>
                        <a:t>Co-polyol</a:t>
                      </a:r>
                      <a:r>
                        <a:rPr lang="en-NL" sz="1400" dirty="0">
                          <a:effectLst/>
                        </a:rPr>
                        <a:t> + Isocyanate type</a:t>
                      </a:r>
                      <a:endParaRPr lang="en-NL" sz="1400" dirty="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  <a:ea typeface="Segoe UI" panose="020B0502040204020203" pitchFamily="34" charset="0"/>
                      </a:endParaRPr>
                    </a:p>
                  </a:txBody>
                  <a:tcPr marL="101944" marR="101944" marT="67963" marB="67963"/>
                </a:tc>
                <a:extLst>
                  <a:ext uri="{0D108BD9-81ED-4DB2-BD59-A6C34878D82A}">
                    <a16:rowId xmlns:a16="http://schemas.microsoft.com/office/drawing/2014/main" val="2201121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5993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2D68C0-6A23-FAD3-01F7-0BA610D7C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en-NL" sz="4000" b="1" dirty="0"/>
              <a:t>Key Insights</a:t>
            </a:r>
            <a:br>
              <a:rPr lang="en-US" altLang="en-NL" sz="4000" b="1" dirty="0"/>
            </a:b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4BDEC87-E103-E0C1-FCBB-7496F19410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936" y="2592044"/>
            <a:ext cx="3575304" cy="3625876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 fontScale="77500" lnSpcReduction="20000"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eaLnBrk="1" fontAlgn="base" hangingPunct="1">
              <a:lnSpc>
                <a:spcPct val="17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NL" sz="2100" b="1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Validation Strategy Comparison</a:t>
            </a:r>
          </a:p>
          <a:p>
            <a:pPr marR="0" lvl="0" eaLnBrk="1" fontAlgn="base" hangingPunct="1">
              <a:lnSpc>
                <a:spcPct val="17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NL" sz="2100" b="1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Optimal Configuration</a:t>
            </a:r>
          </a:p>
          <a:p>
            <a:pPr marR="0" lvl="0" eaLnBrk="1" fontAlgn="base" hangingPunct="1">
              <a:lnSpc>
                <a:spcPct val="17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NL" sz="1900" b="1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For Maximum Accuracy:</a:t>
            </a:r>
            <a:endParaRPr kumimoji="0" lang="en-US" altLang="en-NL" sz="1900" b="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  <a:p>
            <a:pPr marL="0" marR="0" lvl="0" indent="-228600" eaLnBrk="1" fontAlgn="base" hangingPunct="1">
              <a:lnSpc>
                <a:spcPct val="17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NL" sz="19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Stratified Rank 5: R²=0.67, MSE=245.82, 500 estimators</a:t>
            </a:r>
          </a:p>
          <a:p>
            <a:pPr marR="0" lvl="0" eaLnBrk="1" fontAlgn="base" hangingPunct="1">
              <a:lnSpc>
                <a:spcPct val="17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NL" sz="1900" b="1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For Efficiency:</a:t>
            </a:r>
            <a:endParaRPr kumimoji="0" lang="en-US" altLang="en-NL" sz="1900" b="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  <a:p>
            <a:pPr marL="0" marR="0" lvl="0" indent="-228600" eaLnBrk="1" fontAlgn="base" hangingPunct="1">
              <a:lnSpc>
                <a:spcPct val="17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NL" sz="19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Stratified Rank 1: R²=0.55, MSE=338.37, 10 estimators (50× faster)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9E5A101-A890-6A7B-41E9-59C44E1C18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7001115"/>
              </p:ext>
            </p:extLst>
          </p:nvPr>
        </p:nvGraphicFramePr>
        <p:xfrm>
          <a:off x="4654296" y="2046304"/>
          <a:ext cx="6903722" cy="2765393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810481">
                  <a:extLst>
                    <a:ext uri="{9D8B030D-6E8A-4147-A177-3AD203B41FA5}">
                      <a16:colId xmlns:a16="http://schemas.microsoft.com/office/drawing/2014/main" val="2518367302"/>
                    </a:ext>
                  </a:extLst>
                </a:gridCol>
                <a:gridCol w="1309065">
                  <a:extLst>
                    <a:ext uri="{9D8B030D-6E8A-4147-A177-3AD203B41FA5}">
                      <a16:colId xmlns:a16="http://schemas.microsoft.com/office/drawing/2014/main" val="1583463943"/>
                    </a:ext>
                  </a:extLst>
                </a:gridCol>
                <a:gridCol w="1950138">
                  <a:extLst>
                    <a:ext uri="{9D8B030D-6E8A-4147-A177-3AD203B41FA5}">
                      <a16:colId xmlns:a16="http://schemas.microsoft.com/office/drawing/2014/main" val="2128223490"/>
                    </a:ext>
                  </a:extLst>
                </a:gridCol>
                <a:gridCol w="1834038">
                  <a:extLst>
                    <a:ext uri="{9D8B030D-6E8A-4147-A177-3AD203B41FA5}">
                      <a16:colId xmlns:a16="http://schemas.microsoft.com/office/drawing/2014/main" val="1219193705"/>
                    </a:ext>
                  </a:extLst>
                </a:gridCol>
              </a:tblGrid>
              <a:tr h="84641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700" b="0" cap="all" spc="150">
                          <a:solidFill>
                            <a:schemeClr val="lt1"/>
                          </a:solidFill>
                          <a:effectLst/>
                        </a:rPr>
                        <a:t>Approach</a:t>
                      </a:r>
                    </a:p>
                  </a:txBody>
                  <a:tcPr marL="145377" marR="145377" marT="145377" marB="145377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700" b="0" cap="all" spc="150">
                          <a:solidFill>
                            <a:schemeClr val="lt1"/>
                          </a:solidFill>
                          <a:effectLst/>
                        </a:rPr>
                        <a:t>R² Range</a:t>
                      </a:r>
                    </a:p>
                  </a:txBody>
                  <a:tcPr marL="145377" marR="145377" marT="145377" marB="145377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700" b="0" cap="all" spc="150">
                          <a:solidFill>
                            <a:schemeClr val="lt1"/>
                          </a:solidFill>
                          <a:effectLst/>
                        </a:rPr>
                        <a:t>Strengths</a:t>
                      </a:r>
                    </a:p>
                  </a:txBody>
                  <a:tcPr marL="145377" marR="145377" marT="145377" marB="145377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700" b="0" cap="all" spc="150">
                          <a:solidFill>
                            <a:schemeClr val="lt1"/>
                          </a:solidFill>
                          <a:effectLst/>
                        </a:rPr>
                        <a:t>Concerns</a:t>
                      </a:r>
                    </a:p>
                  </a:txBody>
                  <a:tcPr marL="145377" marR="145377" marT="145377" marB="145377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5053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355646"/>
                  </a:ext>
                </a:extLst>
              </a:tr>
              <a:tr h="959488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 b="1" cap="none" spc="0">
                          <a:solidFill>
                            <a:schemeClr val="tx1"/>
                          </a:solidFill>
                          <a:effectLst/>
                        </a:rPr>
                        <a:t>OOF</a:t>
                      </a:r>
                      <a:endParaRPr lang="en-US" sz="14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45377" marR="145377" marT="145377" marB="14537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NL" sz="1400" cap="none" spc="0">
                          <a:solidFill>
                            <a:schemeClr val="tx1"/>
                          </a:solidFill>
                          <a:effectLst/>
                        </a:rPr>
                        <a:t>0.33-0.38</a:t>
                      </a:r>
                    </a:p>
                  </a:txBody>
                  <a:tcPr marL="145377" marR="145377" marT="145377" marB="14537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</a:rPr>
                        <a:t>Conservative, consistent, better generalization</a:t>
                      </a:r>
                    </a:p>
                  </a:txBody>
                  <a:tcPr marL="145377" marR="145377" marT="145377" marB="14537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</a:rPr>
                        <a:t>Lower predictive power</a:t>
                      </a:r>
                    </a:p>
                  </a:txBody>
                  <a:tcPr marL="145377" marR="145377" marT="145377" marB="14537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8371686"/>
                  </a:ext>
                </a:extLst>
              </a:tr>
              <a:tr h="959488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 b="1" cap="none" spc="0">
                          <a:solidFill>
                            <a:schemeClr val="tx1"/>
                          </a:solidFill>
                          <a:effectLst/>
                        </a:rPr>
                        <a:t>Stratified</a:t>
                      </a:r>
                      <a:endParaRPr lang="en-US" sz="14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45377" marR="145377" marT="145377" marB="14537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NL" sz="1400" cap="none" spc="0">
                          <a:solidFill>
                            <a:schemeClr val="tx1"/>
                          </a:solidFill>
                          <a:effectLst/>
                        </a:rPr>
                        <a:t>0.43-0.67</a:t>
                      </a:r>
                    </a:p>
                  </a:txBody>
                  <a:tcPr marL="145377" marR="145377" marT="145377" marB="14537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</a:rPr>
                        <a:t>Higher accuracy, better predictions</a:t>
                      </a:r>
                    </a:p>
                  </a:txBody>
                  <a:tcPr marL="145377" marR="145377" marT="145377" marB="14537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</a:rPr>
                        <a:t>Test/validation gap suggests overfitting risk</a:t>
                      </a:r>
                    </a:p>
                  </a:txBody>
                  <a:tcPr marL="145377" marR="145377" marT="145377" marB="14537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3187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3763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D3E82-B87B-FEF6-D02C-A6CAA13FC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Stratified Sampling Statistics </a:t>
            </a:r>
            <a:endParaRPr lang="en-NL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EA6F580-0FCB-CC5D-68BC-F607EC192D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184813"/>
            <a:ext cx="10515600" cy="3632961"/>
          </a:xfrm>
        </p:spPr>
      </p:pic>
    </p:spTree>
    <p:extLst>
      <p:ext uri="{BB962C8B-B14F-4D97-AF65-F5344CB8AC3E}">
        <p14:creationId xmlns:p14="http://schemas.microsoft.com/office/powerpoint/2010/main" val="426311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D0C3B-1655-BE82-5EA2-8200DFBB0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between OOF and Stratified Split</a:t>
            </a:r>
            <a:endParaRPr lang="en-NL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722BF1-61AE-834A-1139-2A2F829A3B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1874" y="1430815"/>
            <a:ext cx="8231926" cy="5062060"/>
          </a:xfrm>
        </p:spPr>
      </p:pic>
    </p:spTree>
    <p:extLst>
      <p:ext uri="{BB962C8B-B14F-4D97-AF65-F5344CB8AC3E}">
        <p14:creationId xmlns:p14="http://schemas.microsoft.com/office/powerpoint/2010/main" val="11681901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690</Words>
  <Application>Microsoft Office PowerPoint</Application>
  <PresentationFormat>Widescreen</PresentationFormat>
  <Paragraphs>191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Segoe UI</vt:lpstr>
      <vt:lpstr>Office Theme</vt:lpstr>
      <vt:lpstr>Discussion on the reviewers comments</vt:lpstr>
      <vt:lpstr>Out-of-Fold (OOF) Predictions - With Swelling Ratio</vt:lpstr>
      <vt:lpstr>Out-of-Fold (OOF) Predictions - Without Swelling Ratio</vt:lpstr>
      <vt:lpstr>Stratified Train/Test/Validation Split</vt:lpstr>
      <vt:lpstr>Key Insights </vt:lpstr>
      <vt:lpstr>Stratified Sampling Statistics </vt:lpstr>
      <vt:lpstr>Comparison between OOF and Stratified Split</vt:lpstr>
    </vt:vector>
  </TitlesOfParts>
  <Company>AIXTRON 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Acaru, Silviu</dc:creator>
  <cp:lastModifiedBy>Acaru, Silviu</cp:lastModifiedBy>
  <cp:revision>1</cp:revision>
  <dcterms:created xsi:type="dcterms:W3CDTF">2026-02-25T19:41:11Z</dcterms:created>
  <dcterms:modified xsi:type="dcterms:W3CDTF">2026-02-25T20:00:08Z</dcterms:modified>
</cp:coreProperties>
</file>